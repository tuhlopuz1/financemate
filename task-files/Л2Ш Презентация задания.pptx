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7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6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5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Layouts/slideLayout3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23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Layouts/slideLayout4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howSpecialPlsOnTitleSld="0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9799300" cy="11160125"/>
  <p:notesSz cx="19799300" cy="11160125"/>
  <p:defaultTextStyle>
    <a:defPPr marL="0" marR="0" indent="0" algn="l" defTabSz="90006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9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6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2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67" d="100"/>
          <a:sy n="67" d="100"/>
        </p:scale>
        <p:origin x="200" y="656"/>
      </p:cViewPr>
      <p:guideLst>
        <p:guide pos="3560"/>
        <p:guide pos="10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50589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71425277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№1</a:t>
            </a:r>
            <a:endParaRPr/>
          </a:p>
          <a:p>
            <a:pPr>
              <a:defRPr/>
            </a:pPr>
            <a:r>
              <a:rPr lang="ru-RU"/>
              <a:t>Титульный слайд с фоном фирменного цвета</a:t>
            </a:r>
            <a:r>
              <a:rPr lang="en-US"/>
              <a:t> </a:t>
            </a:r>
            <a:endParaRPr lang="ru-RU"/>
          </a:p>
          <a:p>
            <a:pPr>
              <a:defRPr/>
            </a:pPr>
            <a:r>
              <a:rPr lang="en-US"/>
              <a:t>(</a:t>
            </a:r>
            <a:r>
              <a:rPr lang="ru-RU"/>
              <a:t>из трех примеров выберите подходящий под вашу презентацию)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Если необходимо поставить лого </a:t>
            </a:r>
            <a:r>
              <a:rPr lang="ru-RU"/>
              <a:t>суббренда</a:t>
            </a:r>
            <a:r>
              <a:rPr lang="ru-RU"/>
              <a:t> обратитесь к </a:t>
            </a:r>
            <a:r>
              <a:rPr lang="en" sz="1400" b="0" i="0">
                <a:solidFill>
                  <a:schemeClr val="tx1"/>
                </a:solidFill>
                <a:highlight>
                  <a:srgbClr val="FFFF00"/>
                </a:highlight>
                <a:latin typeface="Tinkoff Sans"/>
                <a:ea typeface="Calibri"/>
                <a:cs typeface="Calibri"/>
              </a:rPr>
              <a:t>k.yashkina</a:t>
            </a:r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Слайд </a:t>
            </a:r>
            <a:r>
              <a:rPr lang="ru-RU"/>
              <a:t>текст+инфографика</a:t>
            </a:r>
            <a:endParaRPr lang="ru-RU"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Пример внутреннего слайда с текстом и акцентными блоками с цифрами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Пример внутреннего слайда с текстом и </a:t>
            </a:r>
            <a:r>
              <a:rPr lang="ru-RU"/>
              <a:t>блоками+иконка</a:t>
            </a:r>
            <a:endParaRPr lang="ru-RU"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Если нужна другая иконка см библиотеку иконок </a:t>
            </a:r>
            <a:r>
              <a:rPr lang="ru-RU"/>
              <a:t>сл</a:t>
            </a:r>
            <a:r>
              <a:rPr lang="ru-RU"/>
              <a:t> 8-10</a:t>
            </a: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пустого слайда </a:t>
            </a:r>
            <a:endParaRPr/>
          </a:p>
          <a:p>
            <a:pPr>
              <a:defRPr/>
            </a:pPr>
            <a:r>
              <a:rPr lang="ru-RU"/>
              <a:t>(используется если не один пример не подходит для внутренних страниц)</a:t>
            </a: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слайда отбивки с картинкой</a:t>
            </a:r>
            <a:endParaRPr/>
          </a:p>
          <a:p>
            <a:pPr>
              <a:defRPr/>
            </a:pPr>
            <a:r>
              <a:rPr lang="ru-RU"/>
              <a:t>Выберите один из трех примеров</a:t>
            </a:r>
            <a:endParaRPr/>
          </a:p>
          <a:p>
            <a:pPr>
              <a:defRPr/>
            </a:pPr>
            <a:r>
              <a:rPr lang="ru-RU"/>
              <a:t>Если не нашли подходящий для вашего контента</a:t>
            </a:r>
            <a:r>
              <a:rPr lang="en-US"/>
              <a:t>,</a:t>
            </a:r>
            <a:r>
              <a:rPr lang="ru-RU"/>
              <a:t> то смотрите ссылки на библиотеку картинок и </a:t>
            </a:r>
            <a:r>
              <a:rPr lang="en-US"/>
              <a:t>3D </a:t>
            </a:r>
            <a:r>
              <a:rPr lang="ru-RU"/>
              <a:t>на </a:t>
            </a:r>
            <a:r>
              <a:rPr lang="ru-RU"/>
              <a:t>стр</a:t>
            </a:r>
            <a:r>
              <a:rPr lang="ru-RU"/>
              <a:t> 7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601727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101457114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№1</a:t>
            </a:r>
            <a:endParaRPr/>
          </a:p>
          <a:p>
            <a:pPr>
              <a:defRPr/>
            </a:pPr>
            <a:r>
              <a:rPr lang="ru-RU"/>
              <a:t>Титульный слайд с фоном фирменного цвета</a:t>
            </a:r>
            <a:r>
              <a:rPr lang="en-US"/>
              <a:t> </a:t>
            </a:r>
            <a:endParaRPr lang="ru-RU"/>
          </a:p>
          <a:p>
            <a:pPr>
              <a:defRPr/>
            </a:pPr>
            <a:r>
              <a:rPr lang="en-US"/>
              <a:t>(</a:t>
            </a:r>
            <a:r>
              <a:rPr lang="ru-RU"/>
              <a:t>из трех примеров выберите подходящий под вашу презентацию)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Если необходимо поставить лого </a:t>
            </a:r>
            <a:r>
              <a:rPr lang="ru-RU"/>
              <a:t>суббренда</a:t>
            </a:r>
            <a:r>
              <a:rPr lang="ru-RU"/>
              <a:t> обратитесь к </a:t>
            </a:r>
            <a:r>
              <a:rPr lang="en" sz="1400" b="0" i="0">
                <a:solidFill>
                  <a:schemeClr val="tx1"/>
                </a:solidFill>
                <a:highlight>
                  <a:srgbClr val="FFFF00"/>
                </a:highlight>
                <a:latin typeface="Tinkoff Sans"/>
                <a:ea typeface="Calibri"/>
                <a:cs typeface="Calibri"/>
              </a:rPr>
              <a:t>k.yashkina</a:t>
            </a:r>
            <a:endParaRPr lang="ru-RU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61142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81753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Пример внутреннего слайда с текстом и акцентными блоками для выделений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405494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895048786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внутреннего слайда с текстом</a:t>
            </a: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58185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139165893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внутреннего слайда с текстом</a:t>
            </a: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978228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1656713702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внутреннего слайда с текстом</a:t>
            </a: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88457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49" y="685800"/>
            <a:ext cx="6083299" cy="3429000"/>
          </a:xfrm>
        </p:spPr>
      </p:sp>
      <p:sp>
        <p:nvSpPr>
          <p:cNvPr id="65390228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внутреннего слайда с текстом</a:t>
            </a: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слайда отбивки с картинкой</a:t>
            </a:r>
            <a:endParaRPr/>
          </a:p>
          <a:p>
            <a:pPr>
              <a:defRPr/>
            </a:pPr>
            <a:r>
              <a:rPr lang="ru-RU"/>
              <a:t>Выберите один из трех примеров</a:t>
            </a:r>
            <a:endParaRPr/>
          </a:p>
          <a:p>
            <a:pPr>
              <a:defRPr/>
            </a:pPr>
            <a:r>
              <a:rPr lang="ru-RU"/>
              <a:t>Если не нашли подходящий для вашего контента</a:t>
            </a:r>
            <a:r>
              <a:rPr lang="en-US"/>
              <a:t>,</a:t>
            </a:r>
            <a:r>
              <a:rPr lang="ru-RU"/>
              <a:t> то смотрите ссылки на библиотеку картинок и </a:t>
            </a:r>
            <a:r>
              <a:rPr lang="en-US"/>
              <a:t>3D </a:t>
            </a:r>
            <a:r>
              <a:rPr lang="ru-RU"/>
              <a:t>на </a:t>
            </a:r>
            <a:r>
              <a:rPr lang="ru-RU"/>
              <a:t>стр</a:t>
            </a:r>
            <a:r>
              <a:rPr lang="ru-RU"/>
              <a:t> 7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fill="norm" stroke="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1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rcRect l="0" t="4375" r="0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fill="norm" stroke="1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fill="norm" stroke="1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fill="norm" stroke="1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alphaModFix amt="29000"/>
          </a:blip>
          <a:srcRect l="0" t="0" r="9692" b="0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fill="norm" stroke="1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fill="norm" stroke="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fill="norm" stroke="1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rPr/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rPr/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Таким образом постоянное информационно-пропагандистское  обеспечение нашей деятельности играет важную роль</a:t>
            </a:r>
            <a:endParaRPr/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	с широким активом</a:t>
            </a:r>
            <a:endParaRPr/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9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fill="norm" stroke="1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7878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3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9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fill="norm" stroke="1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3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9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fill="norm" stroke="1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4_Пользовательский макет">
    <p:bg>
      <p:bgPr shadeToTitle="0">
        <a:solidFill>
          <a:schemeClr val="accent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4724104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36000" tIns="36000" rIns="36000" bIns="36000" rtlCol="0"/>
          <a:lstStyle/>
          <a:p>
            <a:pPr>
              <a:defRPr/>
            </a:pPr>
            <a:endParaRPr sz="800"/>
          </a:p>
        </p:txBody>
      </p:sp>
      <p:sp>
        <p:nvSpPr>
          <p:cNvPr id="20" name="object 4"/>
          <p:cNvSpPr/>
          <p:nvPr userDrawn="1"/>
        </p:nvSpPr>
        <p:spPr bwMode="auto">
          <a:xfrm>
            <a:off x="11971018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36000" tIns="36000" rIns="36000" bIns="36000" rtlCol="0"/>
          <a:lstStyle/>
          <a:p>
            <a:pPr>
              <a:defRPr/>
            </a:pPr>
            <a:endParaRPr sz="800"/>
          </a:p>
        </p:txBody>
      </p:sp>
      <p:sp>
        <p:nvSpPr>
          <p:cNvPr id="21" name="object 5"/>
          <p:cNvSpPr/>
          <p:nvPr userDrawn="1"/>
        </p:nvSpPr>
        <p:spPr bwMode="auto">
          <a:xfrm>
            <a:off x="15532643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36000" tIns="36000" rIns="36000" bIns="36000" rtlCol="0"/>
          <a:lstStyle/>
          <a:p>
            <a:pPr>
              <a:defRPr/>
            </a:pPr>
            <a:endParaRPr sz="800"/>
          </a:p>
        </p:txBody>
      </p:sp>
      <p:sp>
        <p:nvSpPr>
          <p:cNvPr id="22" name="object 6"/>
          <p:cNvSpPr/>
          <p:nvPr userDrawn="1"/>
        </p:nvSpPr>
        <p:spPr bwMode="auto">
          <a:xfrm>
            <a:off x="1038812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10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36000" tIns="36000" rIns="36000" bIns="36000" rtlCol="0"/>
          <a:lstStyle/>
          <a:p>
            <a:pPr>
              <a:defRPr/>
            </a:pPr>
            <a:endParaRPr sz="800"/>
          </a:p>
        </p:txBody>
      </p:sp>
      <p:sp>
        <p:nvSpPr>
          <p:cNvPr id="23" name="object 7"/>
          <p:cNvSpPr/>
          <p:nvPr userDrawn="1"/>
        </p:nvSpPr>
        <p:spPr bwMode="auto">
          <a:xfrm>
            <a:off x="8285726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36000" tIns="36000" rIns="36000" bIns="36000" rtlCol="0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rPr/>
              <a:t>Разнообразный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богатый</a:t>
            </a:r>
            <a:r>
              <a:rPr/>
              <a:t> </a:t>
            </a:r>
            <a:r>
              <a:rPr/>
              <a:t>опыт</a:t>
            </a:r>
            <a:r>
              <a:rPr/>
              <a:t> </a:t>
            </a:r>
            <a:r>
              <a:rPr/>
              <a:t>рамки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место</a:t>
            </a:r>
            <a:r>
              <a:rPr/>
              <a:t> </a:t>
            </a:r>
            <a:r>
              <a:rPr/>
              <a:t>обучения</a:t>
            </a:r>
            <a:r>
              <a:rPr/>
              <a:t> </a:t>
            </a:r>
            <a:r>
              <a:rPr/>
              <a:t>кадров</a:t>
            </a:r>
            <a:r>
              <a:rPr/>
              <a:t> </a:t>
            </a:r>
            <a:r>
              <a:rPr/>
              <a:t>позволяет</a:t>
            </a:r>
            <a:r>
              <a:rPr/>
              <a:t>  </a:t>
            </a:r>
            <a:r>
              <a:rPr/>
              <a:t>выполнять</a:t>
            </a:r>
            <a:r>
              <a:rPr/>
              <a:t> </a:t>
            </a:r>
            <a:r>
              <a:rPr/>
              <a:t>важные</a:t>
            </a:r>
            <a:r>
              <a:rPr/>
              <a:t> </a:t>
            </a:r>
            <a:r>
              <a:rPr/>
              <a:t>задания</a:t>
            </a:r>
            <a:r>
              <a:rPr/>
              <a:t> </a:t>
            </a:r>
            <a:r>
              <a:rPr/>
              <a:t>по</a:t>
            </a:r>
            <a:r>
              <a:rPr/>
              <a:t> </a:t>
            </a:r>
            <a:r>
              <a:rPr/>
              <a:t>разработке</a:t>
            </a:r>
            <a:r>
              <a:rPr/>
              <a:t> </a:t>
            </a:r>
            <a:r>
              <a:rPr/>
              <a:t>позиций</a:t>
            </a:r>
            <a:r>
              <a:rPr/>
              <a:t>, </a:t>
            </a:r>
            <a:r>
              <a:rPr/>
              <a:t>занимаемых</a:t>
            </a:r>
            <a:r>
              <a:rPr/>
              <a:t> </a:t>
            </a:r>
            <a:r>
              <a:rPr/>
              <a:t>участниками</a:t>
            </a:r>
            <a:r>
              <a:rPr/>
              <a:t>  </a:t>
            </a:r>
            <a:r>
              <a:rPr/>
              <a:t>в</a:t>
            </a:r>
            <a:r>
              <a:rPr/>
              <a:t> </a:t>
            </a:r>
            <a:r>
              <a:rPr/>
              <a:t>отношении</a:t>
            </a:r>
            <a:r>
              <a:rPr/>
              <a:t> </a:t>
            </a:r>
            <a:r>
              <a:rPr/>
              <a:t>поставленных</a:t>
            </a:r>
            <a:r>
              <a:rPr/>
              <a:t> </a:t>
            </a:r>
            <a:r>
              <a:rPr/>
              <a:t>задач</a:t>
            </a:r>
            <a:r>
              <a:rPr/>
              <a:t>. </a:t>
            </a:r>
            <a:r>
              <a:rPr/>
              <a:t>Таким</a:t>
            </a:r>
            <a:r>
              <a:rPr/>
              <a:t> </a:t>
            </a:r>
            <a:r>
              <a:rPr/>
              <a:t>образом</a:t>
            </a:r>
            <a:r>
              <a:rPr/>
              <a:t> </a:t>
            </a:r>
            <a:r>
              <a:rPr/>
              <a:t>дальнейшее</a:t>
            </a:r>
            <a:r>
              <a:rPr/>
              <a:t> </a:t>
            </a:r>
            <a:r>
              <a:rPr/>
              <a:t>развитие</a:t>
            </a:r>
            <a:r>
              <a:rPr/>
              <a:t>  </a:t>
            </a:r>
            <a:r>
              <a:rPr/>
              <a:t>различных</a:t>
            </a:r>
            <a:r>
              <a:rPr/>
              <a:t> </a:t>
            </a:r>
            <a:r>
              <a:rPr/>
              <a:t>форм</a:t>
            </a:r>
            <a:r>
              <a:rPr/>
              <a:t> </a:t>
            </a:r>
            <a:r>
              <a:rPr/>
              <a:t>деятельности</a:t>
            </a:r>
            <a:r>
              <a:rPr/>
              <a:t> </a:t>
            </a:r>
            <a:r>
              <a:rPr/>
              <a:t>требуют</a:t>
            </a:r>
            <a:r>
              <a:rPr/>
              <a:t> </a:t>
            </a:r>
            <a:r>
              <a:rPr/>
              <a:t>от</a:t>
            </a:r>
            <a:r>
              <a:rPr/>
              <a:t> </a:t>
            </a:r>
            <a:r>
              <a:rPr/>
              <a:t>нас</a:t>
            </a:r>
            <a:r>
              <a:rPr/>
              <a:t> </a:t>
            </a:r>
            <a:r>
              <a:rPr/>
              <a:t>анализа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обучения</a:t>
            </a:r>
            <a:r>
              <a:rPr/>
              <a:t>  </a:t>
            </a:r>
            <a:r>
              <a:rPr/>
              <a:t>кадров</a:t>
            </a:r>
            <a:r>
              <a:rPr/>
              <a:t>, </a:t>
            </a:r>
            <a:r>
              <a:rPr/>
              <a:t>соответствует</a:t>
            </a:r>
            <a:r>
              <a:rPr/>
              <a:t> </a:t>
            </a:r>
            <a:r>
              <a:rPr/>
              <a:t>насущным</a:t>
            </a:r>
            <a:r>
              <a:rPr/>
              <a:t> </a:t>
            </a:r>
            <a:r>
              <a:rPr/>
              <a:t>потребностям</a:t>
            </a:r>
            <a:r>
              <a:rPr/>
              <a:t>. </a:t>
            </a:r>
            <a:r>
              <a:rPr/>
              <a:t>С</a:t>
            </a:r>
            <a:r>
              <a:rPr/>
              <a:t> </a:t>
            </a:r>
            <a:r>
              <a:rPr/>
              <a:t>другой</a:t>
            </a:r>
            <a:r>
              <a:rPr/>
              <a:t> </a:t>
            </a:r>
            <a:r>
              <a:rPr/>
              <a:t>стороны</a:t>
            </a:r>
            <a:r>
              <a:rPr/>
              <a:t>  </a:t>
            </a:r>
            <a:r>
              <a:rPr/>
              <a:t>консультация</a:t>
            </a:r>
            <a:r>
              <a:rPr/>
              <a:t> </a:t>
            </a:r>
            <a:r>
              <a:rPr/>
              <a:t>с</a:t>
            </a:r>
            <a:r>
              <a:rPr/>
              <a:t> </a:t>
            </a:r>
            <a:r>
              <a:rPr/>
              <a:t>широким</a:t>
            </a:r>
            <a:r>
              <a:rPr/>
              <a:t> </a:t>
            </a:r>
            <a:r>
              <a:rPr/>
              <a:t>активом</a:t>
            </a:r>
            <a:r>
              <a:rPr/>
              <a:t> </a:t>
            </a:r>
            <a:r>
              <a:rPr/>
              <a:t>позволяет</a:t>
            </a:r>
            <a:r>
              <a:rPr/>
              <a:t> </a:t>
            </a:r>
            <a:r>
              <a:rPr/>
              <a:t>оценить</a:t>
            </a:r>
            <a:r>
              <a:rPr/>
              <a:t> </a:t>
            </a:r>
            <a:r>
              <a:rPr/>
              <a:t>значение</a:t>
            </a:r>
            <a:r>
              <a:rPr/>
              <a:t> </a:t>
            </a:r>
            <a:r>
              <a:rPr/>
              <a:t>систем</a:t>
            </a:r>
            <a:r>
              <a:rPr/>
              <a:t>  </a:t>
            </a:r>
            <a:r>
              <a:rPr/>
              <a:t>массового</a:t>
            </a:r>
            <a:r>
              <a:rPr/>
              <a:t> </a:t>
            </a:r>
            <a:r>
              <a:rPr/>
              <a:t>участия</a:t>
            </a:r>
            <a:r>
              <a:rPr/>
              <a:t>. </a:t>
            </a:r>
            <a:r>
              <a:rPr/>
              <a:t>С</a:t>
            </a:r>
            <a:r>
              <a:rPr/>
              <a:t> </a:t>
            </a:r>
            <a:r>
              <a:rPr/>
              <a:t>другой</a:t>
            </a:r>
            <a:r>
              <a:rPr/>
              <a:t> </a:t>
            </a:r>
            <a:r>
              <a:rPr/>
              <a:t>стороны</a:t>
            </a:r>
            <a:r>
              <a:rPr/>
              <a:t> </a:t>
            </a:r>
            <a:r>
              <a:rPr/>
              <a:t>рамки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место</a:t>
            </a:r>
            <a:r>
              <a:rPr/>
              <a:t> </a:t>
            </a:r>
            <a:r>
              <a:rPr/>
              <a:t>обучения</a:t>
            </a:r>
            <a:r>
              <a:rPr/>
              <a:t> </a:t>
            </a:r>
            <a:r>
              <a:rPr/>
              <a:t>кадров</a:t>
            </a:r>
            <a:r>
              <a:rPr/>
              <a:t> </a:t>
            </a:r>
            <a:r>
              <a:rPr/>
              <a:t>требуют</a:t>
            </a:r>
            <a:r>
              <a:rPr/>
              <a:t>  </a:t>
            </a:r>
            <a:r>
              <a:rPr/>
              <a:t>от</a:t>
            </a:r>
            <a:r>
              <a:rPr/>
              <a:t> </a:t>
            </a:r>
            <a:r>
              <a:rPr/>
              <a:t>нас</a:t>
            </a:r>
            <a:r>
              <a:rPr/>
              <a:t> </a:t>
            </a:r>
            <a:r>
              <a:rPr/>
              <a:t>анализа</a:t>
            </a:r>
            <a:r>
              <a:rPr/>
              <a:t> </a:t>
            </a:r>
            <a:r>
              <a:rPr/>
              <a:t>систем</a:t>
            </a:r>
            <a:r>
              <a:rPr/>
              <a:t> </a:t>
            </a:r>
            <a:r>
              <a:rPr/>
              <a:t>массового</a:t>
            </a:r>
            <a:r>
              <a:rPr/>
              <a:t> </a:t>
            </a:r>
            <a:r>
              <a:rPr/>
              <a:t>участия</a:t>
            </a:r>
            <a:r>
              <a:rPr/>
              <a:t>. </a:t>
            </a:r>
            <a:r>
              <a:rPr/>
              <a:t>Таким</a:t>
            </a:r>
            <a:r>
              <a:rPr/>
              <a:t> </a:t>
            </a:r>
            <a:r>
              <a:rPr/>
              <a:t>образом</a:t>
            </a:r>
            <a:r>
              <a:rPr/>
              <a:t> </a:t>
            </a:r>
            <a:r>
              <a:rPr/>
              <a:t>постоянное</a:t>
            </a:r>
            <a:r>
              <a:rPr/>
              <a:t>  </a:t>
            </a:r>
            <a:r>
              <a:rPr/>
              <a:t>информационно-пропагандистское</a:t>
            </a:r>
            <a:r>
              <a:rPr/>
              <a:t> </a:t>
            </a:r>
            <a:r>
              <a:rPr/>
              <a:t>обеспечение</a:t>
            </a:r>
            <a:r>
              <a:rPr/>
              <a:t> </a:t>
            </a:r>
            <a:r>
              <a:rPr/>
              <a:t>нашей</a:t>
            </a:r>
            <a:r>
              <a:rPr/>
              <a:t> </a:t>
            </a:r>
            <a:r>
              <a:rPr/>
              <a:t>деятельности</a:t>
            </a:r>
            <a:r>
              <a:rPr/>
              <a:t> </a:t>
            </a:r>
            <a:r>
              <a:rPr/>
              <a:t>играет</a:t>
            </a:r>
            <a:r>
              <a:rPr/>
              <a:t>  </a:t>
            </a:r>
            <a:r>
              <a:rPr/>
              <a:t>важную</a:t>
            </a:r>
            <a:r>
              <a:rPr/>
              <a:t> </a:t>
            </a:r>
            <a:r>
              <a:rPr/>
              <a:t>роль</a:t>
            </a:r>
            <a:r>
              <a:rPr/>
              <a:t> </a:t>
            </a:r>
            <a:r>
              <a:rPr/>
              <a:t>в</a:t>
            </a:r>
            <a:r>
              <a:rPr/>
              <a:t> </a:t>
            </a:r>
            <a:r>
              <a:rPr/>
              <a:t>формировании</a:t>
            </a:r>
            <a:r>
              <a:rPr/>
              <a:t> </a:t>
            </a:r>
            <a:r>
              <a:rPr/>
              <a:t>позиций</a:t>
            </a:r>
            <a:r>
              <a:rPr/>
              <a:t>, </a:t>
            </a:r>
            <a:r>
              <a:rPr/>
              <a:t>занимаемых</a:t>
            </a:r>
            <a:r>
              <a:rPr/>
              <a:t> </a:t>
            </a:r>
            <a:r>
              <a:rPr/>
              <a:t>участниками</a:t>
            </a:r>
            <a:r>
              <a:rPr/>
              <a:t> </a:t>
            </a:r>
            <a:r>
              <a:rPr/>
              <a:t>в</a:t>
            </a:r>
            <a:r>
              <a:rPr/>
              <a:t> </a:t>
            </a:r>
            <a:r>
              <a:rPr/>
              <a:t>отношении</a:t>
            </a:r>
            <a:r>
              <a:rPr/>
              <a:t> </a:t>
            </a:r>
            <a:r>
              <a:rPr/>
              <a:t>поставленных</a:t>
            </a:r>
            <a:r>
              <a:rPr/>
              <a:t> </a:t>
            </a:r>
            <a:r>
              <a:rPr/>
              <a:t>задач</a:t>
            </a:r>
            <a:endParaRPr/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С другой стороны рамки и место обучения кадров  требуют от нас анализа систем массового участия.</a:t>
            </a:r>
            <a:endParaRPr/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" name="object 7"/>
          <p:cNvSpPr/>
          <p:nvPr/>
        </p:nvSpPr>
        <p:spPr bwMode="auto">
          <a:xfrm>
            <a:off x="8643159" y="1860944"/>
            <a:ext cx="187244" cy="187631"/>
          </a:xfrm>
          <a:prstGeom prst="rect">
            <a:avLst/>
          </a:prstGeom>
          <a:blipFill>
            <a:blip r:embed="rId2"/>
            <a:stretch/>
          </a:blip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22" name="object 19"/>
          <p:cNvSpPr/>
          <p:nvPr/>
        </p:nvSpPr>
        <p:spPr bwMode="auto">
          <a:xfrm>
            <a:off x="8670465" y="5932990"/>
            <a:ext cx="503676" cy="504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200" y="0"/>
                </a:moveTo>
                <a:lnTo>
                  <a:pt x="2400" y="0"/>
                </a:lnTo>
                <a:lnTo>
                  <a:pt x="1466" y="189"/>
                </a:lnTo>
                <a:lnTo>
                  <a:pt x="703" y="703"/>
                </a:lnTo>
                <a:lnTo>
                  <a:pt x="189" y="1466"/>
                </a:lnTo>
                <a:lnTo>
                  <a:pt x="0" y="2400"/>
                </a:lnTo>
                <a:lnTo>
                  <a:pt x="0" y="19200"/>
                </a:lnTo>
                <a:lnTo>
                  <a:pt x="189" y="20134"/>
                </a:lnTo>
                <a:lnTo>
                  <a:pt x="703" y="20897"/>
                </a:lnTo>
                <a:lnTo>
                  <a:pt x="1466" y="21411"/>
                </a:lnTo>
                <a:lnTo>
                  <a:pt x="2400" y="21600"/>
                </a:lnTo>
                <a:lnTo>
                  <a:pt x="19200" y="21600"/>
                </a:lnTo>
                <a:lnTo>
                  <a:pt x="20134" y="21411"/>
                </a:lnTo>
                <a:lnTo>
                  <a:pt x="20897" y="20897"/>
                </a:lnTo>
                <a:lnTo>
                  <a:pt x="21411" y="20134"/>
                </a:lnTo>
                <a:lnTo>
                  <a:pt x="21600" y="19200"/>
                </a:lnTo>
                <a:lnTo>
                  <a:pt x="21600" y="2400"/>
                </a:lnTo>
                <a:lnTo>
                  <a:pt x="21411" y="1466"/>
                </a:lnTo>
                <a:lnTo>
                  <a:pt x="20897" y="703"/>
                </a:lnTo>
                <a:lnTo>
                  <a:pt x="20134" y="189"/>
                </a:lnTo>
                <a:lnTo>
                  <a:pt x="19200" y="0"/>
                </a:lnTo>
                <a:close/>
              </a:path>
            </a:pathLst>
          </a:custGeom>
          <a:ln w="30294">
            <a:solidFill>
              <a:srgbClr val="FFFFFF"/>
            </a:solidFill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23" name="Рисунок 52"/>
          <p:cNvSpPr>
            <a:spLocks noGrp="1"/>
          </p:cNvSpPr>
          <p:nvPr>
            <p:ph type="pic" sz="quarter" idx="21"/>
          </p:nvPr>
        </p:nvSpPr>
        <p:spPr bwMode="auto">
          <a:xfrm>
            <a:off x="8275144" y="1608240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4" name="Рисунок 52"/>
          <p:cNvSpPr>
            <a:spLocks noGrp="1"/>
          </p:cNvSpPr>
          <p:nvPr>
            <p:ph type="pic" sz="quarter" idx="22"/>
          </p:nvPr>
        </p:nvSpPr>
        <p:spPr bwMode="auto">
          <a:xfrm>
            <a:off x="8275144" y="3587279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5" name="Рисунок 52"/>
          <p:cNvSpPr>
            <a:spLocks noGrp="1"/>
          </p:cNvSpPr>
          <p:nvPr>
            <p:ph type="pic" sz="quarter" idx="23"/>
          </p:nvPr>
        </p:nvSpPr>
        <p:spPr bwMode="auto">
          <a:xfrm>
            <a:off x="8275144" y="5639929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6" name="Рисунок 52"/>
          <p:cNvSpPr>
            <a:spLocks noGrp="1"/>
          </p:cNvSpPr>
          <p:nvPr>
            <p:ph type="pic" sz="quarter" idx="24"/>
          </p:nvPr>
        </p:nvSpPr>
        <p:spPr bwMode="auto">
          <a:xfrm>
            <a:off x="8275144" y="7669355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fill="norm" stroke="1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rPr/>
              <a:t>01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02</a:t>
            </a:r>
            <a:endParaRPr/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03</a:t>
            </a:r>
            <a:endParaRPr/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04</a:t>
            </a:r>
            <a:endParaRPr/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</a:t>
            </a:r>
            <a:endParaRPr/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специалиста</a:t>
            </a:r>
            <a:endParaRPr/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 выполнять важные задания по разработке</a:t>
            </a:r>
            <a:endParaRPr/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</a:t>
            </a:r>
            <a:endParaRPr/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двух специалистов</a:t>
            </a:r>
            <a:endParaRPr/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fill="norm" stroke="1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rPr/>
              <a:t>Текст</a:t>
            </a:r>
            <a:r>
              <a:rPr/>
              <a:t> </a:t>
            </a:r>
            <a:r>
              <a:rPr/>
              <a:t>на</a:t>
            </a:r>
            <a:r>
              <a:rPr/>
              <a:t> </a:t>
            </a:r>
            <a:r>
              <a:rPr/>
              <a:t>отбивочном</a:t>
            </a:r>
            <a:r>
              <a:rPr/>
              <a:t> </a:t>
            </a:r>
            <a:r>
              <a:rPr/>
              <a:t>слайде</a:t>
            </a:r>
            <a:r>
              <a:rPr/>
              <a:t> </a:t>
            </a:r>
            <a:r>
              <a:rPr/>
              <a:t>вашей</a:t>
            </a:r>
            <a:r>
              <a:rPr/>
              <a:t>  </a:t>
            </a:r>
            <a:r>
              <a:rPr/>
              <a:t>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rPr/>
              <a:t>Развитие форм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2</a:t>
            </a:r>
            <a:endParaRPr/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3</a:t>
            </a:r>
            <a:endParaRPr/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4</a:t>
            </a:r>
            <a:endParaRPr/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Форм</a:t>
            </a:r>
            <a:endParaRPr/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Развитие форм</a:t>
            </a:r>
            <a:endParaRPr/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Развитие форм</a:t>
            </a:r>
            <a:endParaRPr/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2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rPr/>
              <a:t>Консультация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двух специалистов</a:t>
            </a:r>
            <a:endParaRPr/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</a:t>
            </a:r>
            <a:endParaRPr/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rPr/>
              <a:t>Консультация двух      специалистов</a:t>
            </a:r>
            <a:endParaRPr/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</a:t>
            </a:r>
            <a:endParaRPr/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rPr/>
              <a:t>Консультация двух      специалистов</a:t>
            </a:r>
            <a:endParaRPr/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75%</a:t>
            </a:r>
            <a:endParaRPr/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rPr/>
              <a:t>Заголовок</a:t>
            </a:r>
            <a:r>
              <a:rPr/>
              <a:t> </a:t>
            </a:r>
            <a:r>
              <a:rPr/>
              <a:t>слайда</a:t>
            </a:r>
            <a:r>
              <a:rPr/>
              <a:t>  </a:t>
            </a:r>
            <a:r>
              <a:rPr/>
              <a:t>вашей</a:t>
            </a:r>
            <a:r>
              <a:rPr/>
              <a:t> </a:t>
            </a:r>
            <a:r>
              <a:rPr/>
              <a:t>презентации</a:t>
            </a:r>
            <a:endParaRPr/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rcRect l="0" t="0"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fill="norm" stroke="1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fill="norm" stroke="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fill="norm" stroke="1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0_Custom Layout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 bwMode="auto">
          <a:xfrm>
            <a:off x="14854424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 bwMode="auto">
          <a:xfrm>
            <a:off x="989965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 bwMode="auto">
          <a:xfrm>
            <a:off x="4954775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fill="norm" stroke="1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fill="norm" stroke="1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fill="norm" stroke="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fill="norm" stroke="1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fill="norm" stroke="1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fill="norm" stroke="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fill="norm" stroke="1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fill="norm" stroke="1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fill="norm" stroke="1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fill="norm" stroke="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fill="norm" stroke="1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fill="norm" stroke="1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fill="norm" stroke="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fill="norm" stroke="1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fill="norm" stroke="1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fill="norm" stroke="1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35_Custom Layou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fill="norm" stroke="1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DEFAUL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 выполнить важные задания по разработке</a:t>
            </a:r>
            <a:endParaRPr/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 кадров позволяет</a:t>
            </a:r>
            <a:endParaRPr/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и место обучения кадров позволяет</a:t>
            </a:r>
            <a:endParaRPr/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 кадров позволяет</a:t>
            </a:r>
            <a:endParaRPr/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8_Пользовательский макет">
    <p:bg>
      <p:bgPr shadeToTitle="0">
        <a:solidFill>
          <a:srgbClr val="FFFFFF">
            <a:alpha val="77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fill="norm" stroke="1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</p:sldLayoutIdLst>
  <p:hf dt="0" ftr="0" hdr="0" sldNum="1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756861" name="Текст 2"/>
          <p:cNvSpPr txBox="1"/>
          <p:nvPr/>
        </p:nvSpPr>
        <p:spPr bwMode="auto">
          <a:xfrm>
            <a:off x="725195" y="4642972"/>
            <a:ext cx="16949403" cy="1119596"/>
          </a:xfrm>
          <a:prstGeom prst="rect">
            <a:avLst/>
          </a:prstGeom>
        </p:spPr>
        <p:txBody>
          <a:bodyPr lIns="36000" tIns="36000" rIns="36000" bIns="36000" anchor="b" anchorCtr="0">
            <a:noAutofit/>
          </a:bodyPr>
          <a:lstStyle>
            <a:lvl1pPr marL="12497" marR="0" indent="0" algn="l" defTabSz="449938">
              <a:lnSpc>
                <a:spcPts val="9446"/>
              </a:lnSpc>
              <a:spcBef>
                <a:spcPts val="103"/>
              </a:spcBef>
              <a:spcAft>
                <a:spcPts val="0"/>
              </a:spcAft>
              <a:buClrTx/>
              <a:buSzTx/>
              <a:buFontTx/>
              <a:buNone/>
              <a:defRPr sz="59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08565" marR="0" indent="-438063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17131" marR="0" indent="-517711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25696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560340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03144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04595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788753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53156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8199"/>
              </a:lnSpc>
              <a:defRPr/>
            </a:pPr>
            <a:r>
              <a:rPr lang="ru-RU" sz="7200" b="1">
                <a:latin typeface="Tinkoff Sans"/>
              </a:rPr>
              <a:t>Финансовый помощник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ятиугольник 9"/>
          <p:cNvSpPr/>
          <p:nvPr/>
        </p:nvSpPr>
        <p:spPr bwMode="auto">
          <a:xfrm>
            <a:off x="7584790" y="8064904"/>
            <a:ext cx="3015898" cy="1649654"/>
          </a:xfrm>
          <a:prstGeom prst="homePlate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ctr">
            <a:noAutofit/>
          </a:bodyPr>
          <a:lstStyle/>
          <a:p>
            <a:pPr algn="ctr">
              <a:defRPr/>
            </a:pPr>
            <a:endParaRPr lang="ru-RU" sz="3800">
              <a:latin typeface="TINKOFFSANS-MEDIUM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968820" y="8619875"/>
            <a:ext cx="7518273" cy="539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t">
            <a:spAutoFit/>
          </a:bodyPr>
          <a:lstStyle/>
          <a:p>
            <a:pPr marL="15623">
              <a:lnSpc>
                <a:spcPts val="3500"/>
              </a:lnSpc>
              <a:defRPr/>
            </a:pPr>
            <a:r>
              <a:rPr lang="ru-RU" sz="3600"/>
              <a:t>Потеря контроля за финансами</a:t>
            </a:r>
            <a:endParaRPr lang="ru-RU" sz="3600">
              <a:solidFill>
                <a:schemeClr val="tx1"/>
              </a:solidFill>
              <a:latin typeface="Tinkoff Sans"/>
            </a:endParaRPr>
          </a:p>
        </p:txBody>
      </p:sp>
      <p:sp>
        <p:nvSpPr>
          <p:cNvPr id="18" name="Пятиугольник 17"/>
          <p:cNvSpPr/>
          <p:nvPr/>
        </p:nvSpPr>
        <p:spPr bwMode="auto">
          <a:xfrm>
            <a:off x="7584790" y="5268633"/>
            <a:ext cx="3015898" cy="1649654"/>
          </a:xfrm>
          <a:prstGeom prst="homePlate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rgbClr val="438BF9"/>
              </a:gs>
            </a:gsLst>
            <a:lin ang="102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ctr">
            <a:noAutofit/>
          </a:bodyPr>
          <a:lstStyle/>
          <a:p>
            <a:pPr algn="ctr">
              <a:defRPr/>
            </a:pPr>
            <a:endParaRPr lang="ru-RU" sz="3800">
              <a:latin typeface="TINKOFFSANS-MEDIUM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11140268" y="5318368"/>
            <a:ext cx="7525112" cy="14238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t">
            <a:spAutoFit/>
          </a:bodyPr>
          <a:lstStyle/>
          <a:p>
            <a:pPr marL="15623">
              <a:lnSpc>
                <a:spcPts val="3500"/>
              </a:lnSpc>
              <a:defRPr/>
            </a:pPr>
            <a:r>
              <a:rPr lang="ru-RU" sz="3600">
                <a:solidFill>
                  <a:schemeClr val="tx1"/>
                </a:solidFill>
                <a:latin typeface="Tinkoff Sans"/>
              </a:rPr>
              <a:t>Пользователи не смотрят сколько осталось до зарплаты, не помнят о предыдущих тратах в этой категории</a:t>
            </a:r>
            <a:endParaRPr/>
          </a:p>
        </p:txBody>
      </p:sp>
      <p:sp>
        <p:nvSpPr>
          <p:cNvPr id="20" name="Пятиугольник 19"/>
          <p:cNvSpPr/>
          <p:nvPr/>
        </p:nvSpPr>
        <p:spPr bwMode="auto">
          <a:xfrm>
            <a:off x="7584790" y="2360307"/>
            <a:ext cx="3015898" cy="1649654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ctr">
            <a:noAutofit/>
          </a:bodyPr>
          <a:lstStyle/>
          <a:p>
            <a:pPr algn="ctr">
              <a:defRPr/>
            </a:pPr>
            <a:endParaRPr lang="ru-RU" sz="3800">
              <a:latin typeface="TINKOFFSANS-MEDIUM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11140270" y="2915277"/>
            <a:ext cx="7518273" cy="539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6" tIns="44996" rIns="44996" bIns="44996" numCol="1" spcCol="38100" rtlCol="0" anchor="t">
            <a:spAutoFit/>
          </a:bodyPr>
          <a:lstStyle/>
          <a:p>
            <a:pPr marL="15623">
              <a:lnSpc>
                <a:spcPts val="3500"/>
              </a:lnSpc>
              <a:defRPr/>
            </a:pPr>
            <a:r>
              <a:rPr lang="ru-RU" sz="3600"/>
              <a:t>Частые спонтанные покупки</a:t>
            </a:r>
            <a:endParaRPr lang="ru-RU" sz="3600">
              <a:solidFill>
                <a:schemeClr val="tx1"/>
              </a:solidFill>
              <a:latin typeface="Tinkoff Sans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</p:spPr>
        <p:txBody>
          <a:bodyPr/>
          <a:lstStyle/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  <p:sp>
        <p:nvSpPr>
          <p:cNvPr id="3" name="Текст 17"/>
          <p:cNvSpPr txBox="1"/>
          <p:nvPr/>
        </p:nvSpPr>
        <p:spPr bwMode="auto">
          <a:xfrm>
            <a:off x="719138" y="577303"/>
            <a:ext cx="5404519" cy="92333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spAutoFit/>
          </a:bodyPr>
          <a:lstStyle>
            <a:lvl1pPr marL="0" marR="0" indent="11443" algn="l" defTabSz="411479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Проблема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" name="Текст 15"/>
          <p:cNvSpPr>
            <a:spLocks noGrp="1"/>
          </p:cNvSpPr>
          <p:nvPr>
            <p:ph type="body" sz="quarter" idx="4294967295"/>
          </p:nvPr>
        </p:nvSpPr>
        <p:spPr bwMode="auto">
          <a:xfrm>
            <a:off x="1458012" y="2494344"/>
            <a:ext cx="1419190" cy="850987"/>
          </a:xfrm>
          <a:prstGeom prst="rect">
            <a:avLst/>
          </a:prstGeom>
        </p:spPr>
        <p:txBody>
          <a:bodyPr lIns="36000" anchor="ctr" anchorCtr="0">
            <a:noAutofit/>
          </a:bodyPr>
          <a:lstStyle>
            <a:lvl1pPr marL="377396" indent="-377396" defTabSz="1509582">
              <a:spcBef>
                <a:spcPts val="1600"/>
              </a:spcBef>
              <a:defRPr sz="6000"/>
            </a:lvl1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01</a:t>
            </a:r>
            <a:endParaRPr lang="ru-RU" sz="4500" b="1">
              <a:solidFill>
                <a:srgbClr val="438BF9"/>
              </a:solidFill>
              <a:latin typeface="Tinkoff Sans"/>
            </a:endParaRPr>
          </a:p>
        </p:txBody>
      </p:sp>
      <p:sp>
        <p:nvSpPr>
          <p:cNvPr id="1084" name="Текст 22"/>
          <p:cNvSpPr>
            <a:spLocks noGrp="1"/>
          </p:cNvSpPr>
          <p:nvPr>
            <p:ph type="body" sz="quarter" idx="4294967295"/>
          </p:nvPr>
        </p:nvSpPr>
        <p:spPr bwMode="auto">
          <a:xfrm>
            <a:off x="1458012" y="3511776"/>
            <a:ext cx="4685670" cy="2612578"/>
          </a:xfrm>
          <a:prstGeom prst="rect">
            <a:avLst/>
          </a:prstGeom>
        </p:spPr>
        <p:txBody>
          <a:bodyPr lIns="36000" tIns="36000" bIns="36000"/>
          <a:lstStyle>
            <a:lvl1pPr marR="5084" indent="13351" defTabSz="457200">
              <a:lnSpc>
                <a:spcPts val="3000"/>
              </a:lnSpc>
              <a:defRPr sz="2200">
                <a:solidFill>
                  <a:srgbClr val="1E1E1E"/>
                </a:solidFill>
              </a:defRPr>
            </a:lvl1pPr>
          </a:lstStyle>
          <a:p>
            <a:pPr>
              <a:lnSpc>
                <a:spcPts val="3600"/>
              </a:lnSpc>
              <a:defRPr/>
            </a:pPr>
            <a:r>
              <a:rPr lang="ru-RU" sz="3600">
                <a:solidFill>
                  <a:schemeClr val="tx1"/>
                </a:solidFill>
              </a:rPr>
              <a:t>Ввод данных о себе</a:t>
            </a:r>
            <a:r>
              <a:rPr lang="en-US" sz="3600">
                <a:solidFill>
                  <a:schemeClr val="tx1"/>
                </a:solidFill>
              </a:rPr>
              <a:t>: </a:t>
            </a:r>
            <a:r>
              <a:rPr lang="ru-RU" sz="3600">
                <a:solidFill>
                  <a:schemeClr val="tx1"/>
                </a:solidFill>
              </a:rPr>
              <a:t>пол, возраст, заработная плата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086" name="Текст 24"/>
          <p:cNvSpPr>
            <a:spLocks noGrp="1"/>
          </p:cNvSpPr>
          <p:nvPr>
            <p:ph type="body" sz="quarter" idx="4294967295"/>
          </p:nvPr>
        </p:nvSpPr>
        <p:spPr bwMode="auto">
          <a:xfrm>
            <a:off x="7742859" y="3511776"/>
            <a:ext cx="4149027" cy="2612578"/>
          </a:xfrm>
          <a:prstGeom prst="rect">
            <a:avLst/>
          </a:prstGeom>
        </p:spPr>
        <p:txBody>
          <a:bodyPr lIns="36000" tIns="36000" bIns="36000"/>
          <a:lstStyle>
            <a:lvl1pPr marR="5084" indent="13351" defTabSz="457200">
              <a:lnSpc>
                <a:spcPts val="3000"/>
              </a:lnSpc>
              <a:defRPr sz="2200">
                <a:solidFill>
                  <a:srgbClr val="1E1E1E"/>
                </a:solidFill>
              </a:defRPr>
            </a:lvl1pPr>
          </a:lstStyle>
          <a:p>
            <a:pPr>
              <a:lnSpc>
                <a:spcPts val="3600"/>
              </a:lnSpc>
              <a:defRPr/>
            </a:pPr>
            <a:r>
              <a:rPr lang="ru-RU" sz="3600">
                <a:solidFill>
                  <a:schemeClr val="tx1"/>
                </a:solidFill>
              </a:rPr>
              <a:t>Запись покупок с указанием категории, даты и времени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088" name="Текст 26"/>
          <p:cNvSpPr>
            <a:spLocks noGrp="1"/>
          </p:cNvSpPr>
          <p:nvPr>
            <p:ph type="body" sz="quarter" idx="4294967295"/>
          </p:nvPr>
        </p:nvSpPr>
        <p:spPr bwMode="auto">
          <a:xfrm>
            <a:off x="13846125" y="3511776"/>
            <a:ext cx="4149027" cy="2612578"/>
          </a:xfrm>
          <a:prstGeom prst="rect">
            <a:avLst/>
          </a:prstGeom>
        </p:spPr>
        <p:txBody>
          <a:bodyPr lIns="36000" tIns="36000" bIns="36000"/>
          <a:lstStyle/>
          <a:p>
            <a:pPr marR="5004" indent="13138" defTabSz="449939">
              <a:lnSpc>
                <a:spcPts val="3600"/>
              </a:lnSpc>
              <a:defRPr sz="2200">
                <a:solidFill>
                  <a:srgbClr val="1E1E1E"/>
                </a:solidFill>
              </a:defRPr>
            </a:pPr>
            <a:r>
              <a:rPr lang="ru-RU" sz="3600">
                <a:solidFill>
                  <a:schemeClr val="tx1"/>
                </a:solidFill>
              </a:rPr>
              <a:t>Создание своих категорий расходов, например развлечения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092" name="Текст 30"/>
          <p:cNvSpPr>
            <a:spLocks noGrp="1"/>
          </p:cNvSpPr>
          <p:nvPr>
            <p:ph type="body" sz="quarter" idx="4294967295"/>
          </p:nvPr>
        </p:nvSpPr>
        <p:spPr bwMode="auto">
          <a:xfrm>
            <a:off x="7742859" y="7647990"/>
            <a:ext cx="4685670" cy="2612578"/>
          </a:xfrm>
          <a:prstGeom prst="rect">
            <a:avLst/>
          </a:prstGeom>
        </p:spPr>
        <p:txBody>
          <a:bodyPr lIns="36000" tIns="36000" bIns="36000"/>
          <a:lstStyle/>
          <a:p>
            <a:pPr marR="5004" indent="13138" defTabSz="449939">
              <a:lnSpc>
                <a:spcPts val="3600"/>
              </a:lnSpc>
              <a:defRPr sz="2200">
                <a:solidFill>
                  <a:srgbClr val="1E1E1E"/>
                </a:solidFill>
              </a:defRPr>
            </a:pPr>
            <a:r>
              <a:rPr lang="ru-RU" sz="3600">
                <a:solidFill>
                  <a:schemeClr val="tx1"/>
                </a:solidFill>
              </a:rPr>
              <a:t>Добавление множества покупок из файла формата </a:t>
            </a:r>
            <a:r>
              <a:rPr lang="en-US" sz="3600">
                <a:solidFill>
                  <a:schemeClr val="tx1"/>
                </a:solidFill>
              </a:rPr>
              <a:t>.csv</a:t>
            </a:r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29" name="Текст 30"/>
          <p:cNvSpPr txBox="1"/>
          <p:nvPr/>
        </p:nvSpPr>
        <p:spPr bwMode="auto">
          <a:xfrm>
            <a:off x="1458012" y="7647990"/>
            <a:ext cx="4685670" cy="2612578"/>
          </a:xfrm>
          <a:prstGeom prst="rect">
            <a:avLst/>
          </a:prstGeom>
          <a:ln w="12700">
            <a:miter lim="400000"/>
          </a:ln>
        </p:spPr>
        <p:txBody>
          <a:bodyPr lIns="36000" tIns="36000" rIns="44996" bIns="36000"/>
          <a:lstStyle>
            <a:lvl1pPr marL="0" marR="0" indent="0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R="5004" indent="13138" defTabSz="449939">
              <a:lnSpc>
                <a:spcPts val="3600"/>
              </a:lnSpc>
              <a:defRPr sz="2200">
                <a:solidFill>
                  <a:srgbClr val="1E1E1E"/>
                </a:solidFill>
              </a:defRPr>
            </a:pPr>
            <a:r>
              <a:rPr lang="ru-RU" sz="3600">
                <a:solidFill>
                  <a:schemeClr val="tx1"/>
                </a:solidFill>
              </a:rPr>
              <a:t>Статистика в разных разрезах, динамика покупок на графиках</a:t>
            </a:r>
            <a:endParaRPr/>
          </a:p>
        </p:txBody>
      </p:sp>
      <p:sp>
        <p:nvSpPr>
          <p:cNvPr id="30" name="Текст 30"/>
          <p:cNvSpPr txBox="1"/>
          <p:nvPr/>
        </p:nvSpPr>
        <p:spPr bwMode="auto">
          <a:xfrm>
            <a:off x="13846125" y="7647990"/>
            <a:ext cx="4685670" cy="2612578"/>
          </a:xfrm>
          <a:prstGeom prst="rect">
            <a:avLst/>
          </a:prstGeom>
          <a:ln w="12700">
            <a:miter lim="400000"/>
          </a:ln>
        </p:spPr>
        <p:txBody>
          <a:bodyPr lIns="36000" tIns="36000" rIns="44996" bIns="36000"/>
          <a:lstStyle>
            <a:lvl1pPr marL="0" marR="0" indent="0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R="5004" indent="13138" defTabSz="449939">
              <a:lnSpc>
                <a:spcPts val="3600"/>
              </a:lnSpc>
              <a:defRPr sz="2200">
                <a:solidFill>
                  <a:srgbClr val="1E1E1E"/>
                </a:solidFill>
              </a:defRPr>
            </a:pPr>
            <a:r>
              <a:rPr lang="ru-RU" sz="3600">
                <a:solidFill>
                  <a:schemeClr val="tx1"/>
                </a:solidFill>
              </a:rPr>
              <a:t>Получение советов по оптимизации расходов и дополнительные инсайты о своих тратах</a:t>
            </a:r>
            <a:endParaRPr/>
          </a:p>
        </p:txBody>
      </p:sp>
      <p:sp>
        <p:nvSpPr>
          <p:cNvPr id="31" name="Текст 15"/>
          <p:cNvSpPr txBox="1"/>
          <p:nvPr/>
        </p:nvSpPr>
        <p:spPr bwMode="auto">
          <a:xfrm>
            <a:off x="7742859" y="2494344"/>
            <a:ext cx="1171395" cy="850987"/>
          </a:xfrm>
          <a:prstGeom prst="rect">
            <a:avLst/>
          </a:prstGeom>
          <a:ln w="12700">
            <a:miter lim="400000"/>
          </a:ln>
        </p:spPr>
        <p:txBody>
          <a:bodyPr lIns="36000" rIns="44996" anchor="ctr" anchorCtr="0">
            <a:noAutofit/>
          </a:bodyPr>
          <a:lstStyle>
            <a:lvl1pPr marL="377396" marR="0" indent="-377396" algn="l" defTabSz="1509582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60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02</a:t>
            </a:r>
            <a:endParaRPr/>
          </a:p>
        </p:txBody>
      </p:sp>
      <p:sp>
        <p:nvSpPr>
          <p:cNvPr id="32" name="Текст 15"/>
          <p:cNvSpPr txBox="1"/>
          <p:nvPr/>
        </p:nvSpPr>
        <p:spPr bwMode="auto">
          <a:xfrm>
            <a:off x="13846125" y="2494344"/>
            <a:ext cx="1171395" cy="850987"/>
          </a:xfrm>
          <a:prstGeom prst="rect">
            <a:avLst/>
          </a:prstGeom>
          <a:ln w="12700">
            <a:miter lim="400000"/>
          </a:ln>
        </p:spPr>
        <p:txBody>
          <a:bodyPr lIns="36000" rIns="44996" anchor="ctr" anchorCtr="0">
            <a:noAutofit/>
          </a:bodyPr>
          <a:lstStyle>
            <a:lvl1pPr marL="377396" marR="0" indent="-377396" algn="l" defTabSz="1509582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60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03</a:t>
            </a:r>
            <a:endParaRPr/>
          </a:p>
        </p:txBody>
      </p:sp>
      <p:sp>
        <p:nvSpPr>
          <p:cNvPr id="33" name="Текст 15"/>
          <p:cNvSpPr txBox="1"/>
          <p:nvPr/>
        </p:nvSpPr>
        <p:spPr bwMode="auto">
          <a:xfrm>
            <a:off x="1458012" y="6632369"/>
            <a:ext cx="1171395" cy="850987"/>
          </a:xfrm>
          <a:prstGeom prst="rect">
            <a:avLst/>
          </a:prstGeom>
          <a:ln w="12700">
            <a:miter lim="400000"/>
          </a:ln>
        </p:spPr>
        <p:txBody>
          <a:bodyPr lIns="36000" rIns="44996" anchor="ctr" anchorCtr="0">
            <a:noAutofit/>
          </a:bodyPr>
          <a:lstStyle>
            <a:lvl1pPr marL="377396" marR="0" indent="-377396" algn="l" defTabSz="1509582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60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04</a:t>
            </a:r>
            <a:endParaRPr/>
          </a:p>
        </p:txBody>
      </p:sp>
      <p:sp>
        <p:nvSpPr>
          <p:cNvPr id="34" name="Текст 15"/>
          <p:cNvSpPr txBox="1"/>
          <p:nvPr/>
        </p:nvSpPr>
        <p:spPr bwMode="auto">
          <a:xfrm>
            <a:off x="7742859" y="6632369"/>
            <a:ext cx="1171395" cy="850987"/>
          </a:xfrm>
          <a:prstGeom prst="rect">
            <a:avLst/>
          </a:prstGeom>
          <a:ln w="12700">
            <a:miter lim="400000"/>
          </a:ln>
        </p:spPr>
        <p:txBody>
          <a:bodyPr lIns="36000" rIns="44996" anchor="ctr" anchorCtr="0">
            <a:noAutofit/>
          </a:bodyPr>
          <a:lstStyle>
            <a:lvl1pPr marL="377396" marR="0" indent="-377396" algn="l" defTabSz="1509582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60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05</a:t>
            </a:r>
            <a:endParaRPr/>
          </a:p>
        </p:txBody>
      </p:sp>
      <p:sp>
        <p:nvSpPr>
          <p:cNvPr id="35" name="Текст 15"/>
          <p:cNvSpPr txBox="1"/>
          <p:nvPr/>
        </p:nvSpPr>
        <p:spPr bwMode="auto">
          <a:xfrm>
            <a:off x="13846125" y="6632369"/>
            <a:ext cx="1171395" cy="850987"/>
          </a:xfrm>
          <a:prstGeom prst="rect">
            <a:avLst/>
          </a:prstGeom>
          <a:ln w="12700">
            <a:miter lim="400000"/>
          </a:ln>
        </p:spPr>
        <p:txBody>
          <a:bodyPr lIns="36000" rIns="44996" anchor="ctr" anchorCtr="0">
            <a:noAutofit/>
          </a:bodyPr>
          <a:lstStyle>
            <a:lvl1pPr marL="377396" marR="0" indent="-377396" algn="l" defTabSz="1509582">
              <a:lnSpc>
                <a:spcPct val="118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60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6500"/>
              </a:lnSpc>
              <a:defRPr/>
            </a:pPr>
            <a:r>
              <a:rPr lang="ru-RU" sz="4500" b="1">
                <a:solidFill>
                  <a:srgbClr val="438BF9"/>
                </a:solidFill>
                <a:latin typeface="Tinkoff Sans"/>
              </a:rPr>
              <a:t>06</a:t>
            </a:r>
            <a:endParaRPr/>
          </a:p>
        </p:txBody>
      </p:sp>
      <p:sp>
        <p:nvSpPr>
          <p:cNvPr id="2" name="Текст 17"/>
          <p:cNvSpPr txBox="1"/>
          <p:nvPr/>
        </p:nvSpPr>
        <p:spPr bwMode="auto">
          <a:xfrm>
            <a:off x="719138" y="562637"/>
            <a:ext cx="16311562" cy="92333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3" algn="l" defTabSz="411479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Обязательные функциональные требования</a:t>
            </a:r>
            <a:endParaRPr/>
          </a:p>
        </p:txBody>
      </p:sp>
      <p:sp>
        <p:nvSpPr>
          <p:cNvPr id="7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125" y="10320338"/>
            <a:ext cx="1068388" cy="425450"/>
          </a:xfrm>
        </p:spPr>
        <p:txBody>
          <a:bodyPr/>
          <a:lstStyle/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" name="Текст 32"/>
          <p:cNvSpPr>
            <a:spLocks noGrp="1"/>
          </p:cNvSpPr>
          <p:nvPr>
            <p:ph type="body" sz="quarter" idx="4294967295"/>
          </p:nvPr>
        </p:nvSpPr>
        <p:spPr bwMode="auto">
          <a:xfrm>
            <a:off x="9910801" y="2253876"/>
            <a:ext cx="6021638" cy="1134879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/>
          <a:p>
            <a:pPr marR="4503" indent="11824" defTabSz="404944">
              <a:lnSpc>
                <a:spcPts val="3600"/>
              </a:lnSpc>
              <a:spcBef>
                <a:spcPts val="0"/>
              </a:spcBef>
              <a:defRPr sz="2000" spc="0"/>
            </a:pPr>
            <a:r>
              <a:rPr lang="ru-RU" sz="2200">
                <a:solidFill>
                  <a:schemeClr val="bg1">
                    <a:lumMod val="75000"/>
                    <a:lumOff val="25000"/>
                  </a:schemeClr>
                </a:solidFill>
              </a:rPr>
              <a:t>Например, после покупки в супермаркете</a:t>
            </a:r>
            <a:endParaRPr sz="22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19" name="Текст 33"/>
          <p:cNvSpPr>
            <a:spLocks noGrp="1"/>
          </p:cNvSpPr>
          <p:nvPr>
            <p:ph type="body" sz="quarter" idx="4294967295"/>
          </p:nvPr>
        </p:nvSpPr>
        <p:spPr bwMode="auto">
          <a:xfrm>
            <a:off x="10000796" y="4640352"/>
            <a:ext cx="5640650" cy="667988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 marR="5084" indent="13351">
              <a:lnSpc>
                <a:spcPts val="3200"/>
              </a:lnSpc>
              <a:spcBef>
                <a:spcPts val="0"/>
              </a:spcBef>
              <a:defRPr sz="3000" spc="0"/>
            </a:lvl1pPr>
          </a:lstStyle>
          <a:p>
            <a:pPr>
              <a:lnSpc>
                <a:spcPts val="4000"/>
              </a:lnSpc>
              <a:defRPr/>
            </a:pPr>
            <a:r>
              <a:rPr lang="ru-RU">
                <a:latin typeface="TINKOFFSANS-MEDIUM"/>
              </a:rPr>
              <a:t>Анализ трат</a:t>
            </a:r>
            <a:endParaRPr>
              <a:latin typeface="TINKOFFSANS-MEDIUM"/>
            </a:endParaRPr>
          </a:p>
        </p:txBody>
      </p:sp>
      <p:sp>
        <p:nvSpPr>
          <p:cNvPr id="1220" name="Текст 35"/>
          <p:cNvSpPr>
            <a:spLocks noGrp="1"/>
          </p:cNvSpPr>
          <p:nvPr>
            <p:ph type="body" sz="quarter" idx="4294967295"/>
          </p:nvPr>
        </p:nvSpPr>
        <p:spPr bwMode="auto">
          <a:xfrm>
            <a:off x="9910801" y="7700129"/>
            <a:ext cx="6021638" cy="558361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 marR="5084" indent="13351">
              <a:lnSpc>
                <a:spcPct val="119300"/>
              </a:lnSpc>
              <a:spcBef>
                <a:spcPts val="0"/>
              </a:spcBef>
              <a:defRPr sz="3000" spc="0"/>
            </a:lvl1pPr>
          </a:lstStyle>
          <a:p>
            <a:pPr>
              <a:lnSpc>
                <a:spcPts val="4000"/>
              </a:lnSpc>
              <a:defRPr/>
            </a:pPr>
            <a:r>
              <a:rPr lang="ru-RU">
                <a:latin typeface="TINKOFFSANS-MEDIUM"/>
              </a:rPr>
              <a:t>Советы при дорогих покупках</a:t>
            </a:r>
            <a:endParaRPr>
              <a:latin typeface="TINKOFFSANS-MEDIUM"/>
            </a:endParaRPr>
          </a:p>
        </p:txBody>
      </p:sp>
      <p:sp>
        <p:nvSpPr>
          <p:cNvPr id="1217" name="Текст 27"/>
          <p:cNvSpPr txBox="1">
            <a:spLocks noGrp="1"/>
          </p:cNvSpPr>
          <p:nvPr>
            <p:ph type="body" sz="quarter" idx="4294967295"/>
          </p:nvPr>
        </p:nvSpPr>
        <p:spPr bwMode="auto">
          <a:xfrm>
            <a:off x="9910801" y="1584555"/>
            <a:ext cx="6021638" cy="558361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>
              <a:defRPr sz="3000" spc="0">
                <a:solidFill>
                  <a:srgbClr val="1A1919"/>
                </a:solidFill>
              </a:defRPr>
            </a:lvl1pPr>
          </a:lstStyle>
          <a:p>
            <a:pPr>
              <a:lnSpc>
                <a:spcPts val="4000"/>
              </a:lnSpc>
              <a:defRPr/>
            </a:pPr>
            <a:r>
              <a:rPr lang="ru-RU">
                <a:latin typeface="TINKOFFSANS-MEDIUM"/>
              </a:rPr>
              <a:t>Ежедневная запись трат</a:t>
            </a:r>
            <a:endParaRPr>
              <a:latin typeface="TINKOFFSANS-MEDIUM"/>
            </a:endParaRPr>
          </a:p>
        </p:txBody>
      </p:sp>
      <p:sp>
        <p:nvSpPr>
          <p:cNvPr id="1222" name="Текст 32"/>
          <p:cNvSpPr txBox="1"/>
          <p:nvPr/>
        </p:nvSpPr>
        <p:spPr bwMode="auto">
          <a:xfrm>
            <a:off x="10000796" y="5313652"/>
            <a:ext cx="5931643" cy="1134879"/>
          </a:xfrm>
          <a:prstGeom prst="rect">
            <a:avLst/>
          </a:prstGeom>
          <a:ln w="12700">
            <a:miter lim="400000"/>
          </a:ln>
        </p:spPr>
        <p:txBody>
          <a:bodyPr lIns="36000" tIns="36000" rIns="44996" bIns="36000" anchor="t">
            <a:noAutofit/>
          </a:bodyPr>
          <a:lstStyle/>
          <a:p>
            <a:pPr marR="5004" indent="13138">
              <a:lnSpc>
                <a:spcPts val="3600"/>
              </a:lnSpc>
              <a:defRPr sz="2200" spc="9">
                <a:solidFill>
                  <a:srgbClr val="282828"/>
                </a:solidFill>
              </a:defRPr>
            </a:pPr>
            <a:r>
              <a:rPr lang="ru-RU" sz="2200">
                <a:solidFill>
                  <a:schemeClr val="bg1">
                    <a:lumMod val="75000"/>
                    <a:lumOff val="25000"/>
                  </a:schemeClr>
                </a:solidFill>
              </a:rPr>
              <a:t>В конце месяца для планирования расходов на следующий месяц</a:t>
            </a:r>
            <a:endParaRPr sz="22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23" name="Текст 32"/>
          <p:cNvSpPr txBox="1"/>
          <p:nvPr/>
        </p:nvSpPr>
        <p:spPr bwMode="auto">
          <a:xfrm>
            <a:off x="9910801" y="8358707"/>
            <a:ext cx="5931643" cy="1134879"/>
          </a:xfrm>
          <a:prstGeom prst="rect">
            <a:avLst/>
          </a:prstGeom>
          <a:ln w="12700">
            <a:miter lim="400000"/>
          </a:ln>
        </p:spPr>
        <p:txBody>
          <a:bodyPr lIns="36000" tIns="36000" rIns="44996" bIns="36000" anchor="t">
            <a:noAutofit/>
          </a:bodyPr>
          <a:lstStyle/>
          <a:p>
            <a:pPr marR="5004" indent="13138">
              <a:lnSpc>
                <a:spcPts val="3600"/>
              </a:lnSpc>
              <a:defRPr sz="2200" spc="9">
                <a:solidFill>
                  <a:srgbClr val="282828"/>
                </a:solidFill>
              </a:defRPr>
            </a:pPr>
            <a:r>
              <a:rPr lang="ru-RU" sz="2200">
                <a:solidFill>
                  <a:schemeClr val="bg1">
                    <a:lumMod val="75000"/>
                    <a:lumOff val="25000"/>
                  </a:schemeClr>
                </a:solidFill>
              </a:rPr>
              <a:t>При планировании дорогой покупки помощник должен дать совет.</a:t>
            </a:r>
            <a:endParaRPr/>
          </a:p>
        </p:txBody>
      </p:sp>
      <p:pic>
        <p:nvPicPr>
          <p:cNvPr id="16" name="object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711603" y="1684001"/>
            <a:ext cx="667805" cy="580223"/>
          </a:xfrm>
          <a:prstGeom prst="rect">
            <a:avLst/>
          </a:prstGeom>
        </p:spPr>
      </p:pic>
      <p:pic>
        <p:nvPicPr>
          <p:cNvPr id="17" name="object 9"/>
          <p:cNvPicPr/>
          <p:nvPr/>
        </p:nvPicPr>
        <p:blipFill>
          <a:blip r:embed="rId4"/>
          <a:stretch/>
        </p:blipFill>
        <p:spPr bwMode="auto">
          <a:xfrm>
            <a:off x="8888949" y="4735744"/>
            <a:ext cx="667804" cy="643070"/>
          </a:xfrm>
          <a:prstGeom prst="rect">
            <a:avLst/>
          </a:prstGeom>
        </p:spPr>
      </p:pic>
      <p:pic>
        <p:nvPicPr>
          <p:cNvPr id="19" name="object 11"/>
          <p:cNvPicPr/>
          <p:nvPr/>
        </p:nvPicPr>
        <p:blipFill>
          <a:blip r:embed="rId5"/>
          <a:stretch/>
        </p:blipFill>
        <p:spPr bwMode="auto">
          <a:xfrm>
            <a:off x="8811311" y="7872418"/>
            <a:ext cx="643070" cy="643070"/>
          </a:xfrm>
          <a:prstGeom prst="rect">
            <a:avLst/>
          </a:prstGeom>
        </p:spPr>
      </p:pic>
      <p:sp>
        <p:nvSpPr>
          <p:cNvPr id="2" name="Текст 17"/>
          <p:cNvSpPr txBox="1"/>
          <p:nvPr/>
        </p:nvSpPr>
        <p:spPr bwMode="auto">
          <a:xfrm>
            <a:off x="719138" y="577303"/>
            <a:ext cx="5404519" cy="166199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spAutoFit/>
          </a:bodyPr>
          <a:lstStyle>
            <a:lvl1pPr marL="0" marR="0" indent="11443" algn="l" defTabSz="411479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b="1">
                <a:latin typeface="Tinkoff Sans"/>
              </a:rPr>
              <a:t>Сценарии использования</a:t>
            </a:r>
            <a:endParaRPr/>
          </a:p>
        </p:txBody>
      </p:sp>
      <p:sp>
        <p:nvSpPr>
          <p:cNvPr id="10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125" y="10320338"/>
            <a:ext cx="1068388" cy="425450"/>
          </a:xfrm>
        </p:spPr>
        <p:txBody>
          <a:bodyPr/>
          <a:lstStyle/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</p:spPr>
        <p:txBody>
          <a:bodyPr/>
          <a:lstStyle/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  <p:sp>
        <p:nvSpPr>
          <p:cNvPr id="2" name="Текст 17"/>
          <p:cNvSpPr txBox="1"/>
          <p:nvPr/>
        </p:nvSpPr>
        <p:spPr bwMode="auto">
          <a:xfrm>
            <a:off x="719138" y="562637"/>
            <a:ext cx="15737900" cy="92333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>
            <a:lvl1pPr marL="0" marR="0" indent="11443" algn="l" defTabSz="411479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Примеры</a:t>
            </a:r>
            <a:endParaRPr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709612" y="2647949"/>
            <a:ext cx="10396538" cy="6931025"/>
          </a:xfrm>
          <a:prstGeom prst="rect">
            <a:avLst/>
          </a:prstGeom>
          <a:noFill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8944642" y="2647949"/>
            <a:ext cx="10396538" cy="693102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 noGrp="1"/>
          </p:cNvPicPr>
          <p:nvPr>
            <p:ph type="pic" sz="quarter" idx="10"/>
          </p:nvPr>
        </p:nvPicPr>
        <p:blipFill>
          <a:blip r:embed="rId3">
            <a:alphaModFix amt="70000"/>
          </a:blip>
          <a:srcRect l="0" t="7735" r="0" b="7734"/>
          <a:stretch/>
        </p:blipFill>
        <p:spPr bwMode="auto">
          <a:prstGeom prst="rect">
            <a:avLst/>
          </a:prstGeom>
        </p:spPr>
      </p:pic>
      <p:sp>
        <p:nvSpPr>
          <p:cNvPr id="6" name="Заголовок 21"/>
          <p:cNvSpPr txBox="1"/>
          <p:nvPr/>
        </p:nvSpPr>
        <p:spPr bwMode="auto">
          <a:xfrm>
            <a:off x="1668691" y="4779379"/>
            <a:ext cx="16518169" cy="140877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 fontScale="77500" lnSpcReduction="20000"/>
          </a:bodyPr>
          <a:lstStyle>
            <a:lvl1pPr marL="0" marR="0" indent="12715" algn="ctr" defTabSz="1509582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 sz="11000" b="0" i="0" u="none" strike="noStrike" cap="none" spc="0">
                <a:solidFill>
                  <a:srgbClr val="FFFFFF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9000"/>
              </a:lnSpc>
              <a:defRPr/>
            </a:pPr>
            <a:r>
              <a:rPr lang="ru-RU" sz="8000" b="1">
                <a:solidFill>
                  <a:schemeClr val="tx1"/>
                </a:solidFill>
                <a:latin typeface="Tinkoff Sans"/>
              </a:rPr>
              <a:t>Ограничений по </a:t>
            </a:r>
            <a:r>
              <a:rPr lang="ru-RU" sz="8000" b="1">
                <a:solidFill>
                  <a:schemeClr val="tx1"/>
                </a:solidFill>
                <a:latin typeface="Tinkoff Sans"/>
              </a:rPr>
              <a:t>стэку</a:t>
            </a:r>
            <a:r>
              <a:rPr lang="ru-RU" sz="8000" b="1">
                <a:solidFill>
                  <a:schemeClr val="tx1"/>
                </a:solidFill>
                <a:latin typeface="Tinkoff Sans"/>
              </a:rPr>
              <a:t> и платформам нет!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229911" name="Текст 2"/>
          <p:cNvSpPr txBox="1"/>
          <p:nvPr/>
        </p:nvSpPr>
        <p:spPr bwMode="auto">
          <a:xfrm>
            <a:off x="725195" y="4642972"/>
            <a:ext cx="16949403" cy="1119596"/>
          </a:xfrm>
          <a:prstGeom prst="rect">
            <a:avLst/>
          </a:prstGeom>
        </p:spPr>
        <p:txBody>
          <a:bodyPr lIns="36000" tIns="36000" rIns="36000" bIns="36000" anchor="b" anchorCtr="0">
            <a:noAutofit/>
          </a:bodyPr>
          <a:lstStyle>
            <a:lvl1pPr marL="12497" marR="0" indent="0" algn="l" defTabSz="449938">
              <a:lnSpc>
                <a:spcPts val="9446"/>
              </a:lnSpc>
              <a:spcBef>
                <a:spcPts val="103"/>
              </a:spcBef>
              <a:spcAft>
                <a:spcPts val="0"/>
              </a:spcAft>
              <a:buClrTx/>
              <a:buSzTx/>
              <a:buFontTx/>
              <a:buNone/>
              <a:defRPr sz="59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08565" marR="0" indent="-438063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17131" marR="0" indent="-517711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25696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560340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03144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04595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788753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53156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8199"/>
              </a:lnSpc>
              <a:defRPr/>
            </a:pPr>
            <a:r>
              <a:rPr lang="ru-RU" sz="7200" b="1">
                <a:latin typeface="Tinkoff Sans"/>
              </a:rPr>
              <a:t>Датасет для работы</a:t>
            </a:r>
            <a:endParaRPr/>
          </a:p>
        </p:txBody>
      </p:sp>
      <p:sp>
        <p:nvSpPr>
          <p:cNvPr id="706752739" name="Текст 1"/>
          <p:cNvSpPr>
            <a:spLocks noGrp="1"/>
          </p:cNvSpPr>
          <p:nvPr>
            <p:ph type="body" sz="quarter" idx="21"/>
          </p:nvPr>
        </p:nvSpPr>
        <p:spPr bwMode="auto">
          <a:xfrm flipH="0" flipV="0">
            <a:off x="725195" y="5847269"/>
            <a:ext cx="11134604" cy="1934858"/>
          </a:xfrm>
        </p:spPr>
        <p:txBody>
          <a:bodyPr vertOverflow="overflow" horzOverflow="overflow" vert="horz" wrap="square" lIns="36000" tIns="36000" rIns="36000" bIns="36000" numCol="1" spcCol="0" rtlCol="0" fromWordArt="0" anchor="ctr" anchorCtr="0" forceAA="0" upright="0" compatLnSpc="0">
            <a:normAutofit/>
          </a:bodyPr>
          <a:lstStyle/>
          <a:p>
            <a:pPr>
              <a:lnSpc>
                <a:spcPts val="3999"/>
              </a:lnSpc>
              <a:defRPr/>
            </a:pPr>
            <a:r>
              <a:rPr lang="ru-RU" sz="2800"/>
              <a:t>Используйте предоставленные данные для поиска инсайтов и улучшения рекомендаций пользователям вашего приложения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79901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1B98D715-44D4-3D02-8909-E9EEE54BC520}" type="slidenum">
              <a:rPr lang="ru-RU"/>
              <a:t/>
            </a:fld>
            <a:endParaRPr lang="ru-RU"/>
          </a:p>
        </p:txBody>
      </p:sp>
      <p:sp>
        <p:nvSpPr>
          <p:cNvPr id="1022148586" name="Текст 10"/>
          <p:cNvSpPr txBox="1">
            <a:spLocks noGrp="1"/>
          </p:cNvSpPr>
          <p:nvPr>
            <p:ph type="body" sz="quarter" idx="4294967295"/>
          </p:nvPr>
        </p:nvSpPr>
        <p:spPr bwMode="auto">
          <a:xfrm>
            <a:off x="719137" y="3756857"/>
            <a:ext cx="3263899" cy="671511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/>
          <a:p>
            <a:pPr>
              <a:lnSpc>
                <a:spcPts val="4499"/>
              </a:lnSpc>
              <a:defRPr sz="2400" spc="0">
                <a:solidFill>
                  <a:srgbClr val="757675"/>
                </a:solidFill>
              </a:defRPr>
            </a:pPr>
            <a:r>
              <a:rPr lang="ru-RU" sz="3500">
                <a:solidFill>
                  <a:schemeClr val="tx1"/>
                </a:solidFill>
                <a:latin typeface="TINKOFFSANS-MEDIUM"/>
              </a:rPr>
              <a:t>user_data.csv</a:t>
            </a:r>
            <a:br>
              <a:rPr lang="ru-RU" sz="3500">
                <a:solidFill>
                  <a:schemeClr val="tx1"/>
                </a:solidFill>
                <a:latin typeface="TINKOFFSANS-MEDIUM"/>
              </a:rPr>
            </a:br>
            <a:r>
              <a:rPr lang="ru-RU" sz="3500">
                <a:solidFill>
                  <a:schemeClr val="tx1"/>
                </a:solidFill>
                <a:latin typeface="TINKOFFSANS-MEDIUM"/>
              </a:rPr>
              <a:t>Пользователи</a:t>
            </a:r>
            <a:endParaRPr/>
          </a:p>
        </p:txBody>
      </p:sp>
      <p:sp>
        <p:nvSpPr>
          <p:cNvPr id="985386492" name="Текст 11"/>
          <p:cNvSpPr txBox="1"/>
          <p:nvPr/>
        </p:nvSpPr>
        <p:spPr bwMode="auto">
          <a:xfrm>
            <a:off x="719137" y="5688055"/>
            <a:ext cx="5446119" cy="2519337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noAutofit/>
          </a:bodyPr>
          <a:lstStyle>
            <a:lvl1pPr marR="188183" indent="12714">
              <a:lnSpc>
                <a:spcPts val="3399"/>
              </a:lnSpc>
              <a:spcBef>
                <a:spcPts val="2099"/>
              </a:spcBef>
              <a:defRPr sz="2400">
                <a:solidFill>
                  <a:srgbClr val="282828"/>
                </a:solidFill>
              </a:defRPr>
            </a:lvl1pPr>
          </a:lstStyle>
          <a:p>
            <a:pPr marL="342900" indent="-342900">
              <a:lnSpc>
                <a:spcPts val="3799"/>
              </a:lnSpc>
              <a:buFont typeface="Wingdings"/>
              <a:buChar char="§"/>
              <a:defRPr/>
            </a:pPr>
            <a:r>
              <a:rPr lang="ru-RU">
                <a:solidFill>
                  <a:schemeClr val="bg1"/>
                </a:solidFill>
              </a:rPr>
              <a:t>Информация о пользователях, которую мы знаем на текущий момент.</a:t>
            </a:r>
            <a:endParaRPr/>
          </a:p>
          <a:p>
            <a:pPr indent="0">
              <a:lnSpc>
                <a:spcPts val="3799"/>
              </a:lnSpc>
              <a:defRPr/>
            </a:pPr>
            <a:endParaRPr lang="en">
              <a:solidFill>
                <a:schemeClr val="bg1"/>
              </a:solidFill>
            </a:endParaRPr>
          </a:p>
        </p:txBody>
      </p:sp>
      <p:sp>
        <p:nvSpPr>
          <p:cNvPr id="672256288" name="Текст 10"/>
          <p:cNvSpPr txBox="1"/>
          <p:nvPr/>
        </p:nvSpPr>
        <p:spPr bwMode="auto">
          <a:xfrm flipH="0" flipV="0">
            <a:off x="7746669" y="3756857"/>
            <a:ext cx="5230404" cy="671622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marR="0" indent="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08565" marR="0" indent="-438063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17131" marR="0" indent="-517711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25696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560340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03144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04595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788753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53156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4499"/>
              </a:lnSpc>
              <a:defRPr sz="2400" spc="0">
                <a:solidFill>
                  <a:srgbClr val="757675"/>
                </a:solidFill>
              </a:defRPr>
            </a:pPr>
            <a:r>
              <a:rPr lang="ru-RU" sz="3500">
                <a:solidFill>
                  <a:schemeClr val="tx1"/>
                </a:solidFill>
                <a:latin typeface="TINKOFFSANS-MEDIUM"/>
              </a:rPr>
              <a:t>all_user_transactions.csv</a:t>
            </a:r>
            <a:br>
              <a:rPr lang="ru-RU" sz="3500">
                <a:solidFill>
                  <a:schemeClr val="tx1"/>
                </a:solidFill>
                <a:latin typeface="TINKOFFSANS-MEDIUM"/>
              </a:rPr>
            </a:br>
            <a:r>
              <a:rPr lang="ru-RU" sz="3500">
                <a:solidFill>
                  <a:schemeClr val="tx1"/>
                </a:solidFill>
                <a:latin typeface="TINKOFFSANS-MEDIUM"/>
              </a:rPr>
              <a:t>Транзакции</a:t>
            </a:r>
            <a:endParaRPr/>
          </a:p>
        </p:txBody>
      </p:sp>
      <p:sp>
        <p:nvSpPr>
          <p:cNvPr id="1872423448" name="Текст 10"/>
          <p:cNvSpPr txBox="1"/>
          <p:nvPr/>
        </p:nvSpPr>
        <p:spPr bwMode="auto">
          <a:xfrm flipH="0" flipV="0">
            <a:off x="13914721" y="3756857"/>
            <a:ext cx="5846661" cy="671622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marR="0" indent="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08565" marR="0" indent="-438063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17131" marR="0" indent="-517711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25696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560340" marR="0" indent="-589120" algn="l" defTabSz="1485608">
              <a:lnSpc>
                <a:spcPct val="118000"/>
              </a:lnSpc>
              <a:spcBef>
                <a:spcPts val="2362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03144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04595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788753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531561" marR="0" indent="-589120" algn="l" defTabSz="1485608">
              <a:lnSpc>
                <a:spcPct val="90000"/>
              </a:lnSpc>
              <a:spcBef>
                <a:spcPts val="1573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4499"/>
              </a:lnSpc>
              <a:defRPr sz="2400" spc="0">
                <a:solidFill>
                  <a:srgbClr val="757675"/>
                </a:solidFill>
              </a:defRPr>
            </a:pPr>
            <a:r>
              <a:rPr lang="ru-RU" sz="3500">
                <a:solidFill>
                  <a:schemeClr val="tx1"/>
                </a:solidFill>
                <a:latin typeface="TINKOFFSANS-MEDIUM"/>
              </a:rPr>
              <a:t>all_user_balances.csv</a:t>
            </a:r>
            <a:br>
              <a:rPr lang="ru-RU" sz="3500">
                <a:solidFill>
                  <a:schemeClr val="tx1"/>
                </a:solidFill>
                <a:latin typeface="TINKOFFSANS-MEDIUM"/>
              </a:rPr>
            </a:br>
            <a:r>
              <a:rPr lang="ru-RU" sz="3500">
                <a:solidFill>
                  <a:schemeClr val="tx1"/>
                </a:solidFill>
                <a:latin typeface="TINKOFFSANS-MEDIUM"/>
              </a:rPr>
              <a:t>Баланс на счетах пользователей</a:t>
            </a:r>
            <a:endParaRPr lang="ru-RU" sz="3500">
              <a:solidFill>
                <a:schemeClr val="tx1"/>
              </a:solidFill>
              <a:latin typeface="TINKOFFSANS-MEDIUM"/>
            </a:endParaRPr>
          </a:p>
        </p:txBody>
      </p:sp>
      <p:sp>
        <p:nvSpPr>
          <p:cNvPr id="1294019305" name="Текст 11"/>
          <p:cNvSpPr txBox="1"/>
          <p:nvPr/>
        </p:nvSpPr>
        <p:spPr bwMode="auto">
          <a:xfrm>
            <a:off x="7746669" y="5688055"/>
            <a:ext cx="5230404" cy="2519337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noAutofit/>
          </a:bodyPr>
          <a:lstStyle>
            <a:lvl1pPr marR="188183" indent="12714">
              <a:lnSpc>
                <a:spcPts val="3399"/>
              </a:lnSpc>
              <a:spcBef>
                <a:spcPts val="2099"/>
              </a:spcBef>
              <a:defRPr sz="2400">
                <a:solidFill>
                  <a:srgbClr val="282828"/>
                </a:solidFill>
              </a:defRPr>
            </a:lvl1pPr>
          </a:lstStyle>
          <a:p>
            <a:pPr marL="342900" indent="-342900">
              <a:lnSpc>
                <a:spcPts val="3799"/>
              </a:lnSpc>
              <a:buFont typeface="Wingdings"/>
              <a:buChar char="§"/>
              <a:defRPr/>
            </a:pPr>
            <a:r>
              <a:rPr lang="ru-RU">
                <a:solidFill>
                  <a:schemeClr val="bg1"/>
                </a:solidFill>
              </a:rPr>
              <a:t>Информация обо всех основных банковских транзакциях пользователей за последние 2 года. </a:t>
            </a:r>
            <a:endParaRPr/>
          </a:p>
          <a:p>
            <a:pPr indent="0">
              <a:lnSpc>
                <a:spcPts val="3799"/>
              </a:lnSpc>
              <a:defRPr/>
            </a:pPr>
            <a:endParaRPr lang="en">
              <a:solidFill>
                <a:schemeClr val="bg1"/>
              </a:solidFill>
            </a:endParaRPr>
          </a:p>
        </p:txBody>
      </p:sp>
      <p:sp>
        <p:nvSpPr>
          <p:cNvPr id="447381737" name="Текст 11"/>
          <p:cNvSpPr txBox="1"/>
          <p:nvPr/>
        </p:nvSpPr>
        <p:spPr bwMode="auto">
          <a:xfrm>
            <a:off x="13914721" y="5688055"/>
            <a:ext cx="5165442" cy="2519337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noAutofit/>
          </a:bodyPr>
          <a:lstStyle>
            <a:lvl1pPr marR="188183" indent="12714">
              <a:lnSpc>
                <a:spcPts val="3399"/>
              </a:lnSpc>
              <a:spcBef>
                <a:spcPts val="2099"/>
              </a:spcBef>
              <a:defRPr sz="2400">
                <a:solidFill>
                  <a:srgbClr val="282828"/>
                </a:solidFill>
              </a:defRPr>
            </a:lvl1pPr>
          </a:lstStyle>
          <a:p>
            <a:pPr marL="342900" indent="-342900">
              <a:lnSpc>
                <a:spcPts val="3799"/>
              </a:lnSpc>
              <a:buFont typeface="Wingdings"/>
              <a:buChar char="§"/>
              <a:defRPr/>
            </a:pPr>
            <a:r>
              <a:rPr lang="ru-RU">
                <a:solidFill>
                  <a:schemeClr val="bg1"/>
                </a:solidFill>
              </a:rPr>
              <a:t>Информация о балансах всех счетов, по которым есть транзакции за последние два года</a:t>
            </a:r>
            <a:endParaRPr/>
          </a:p>
          <a:p>
            <a:pPr indent="0">
              <a:lnSpc>
                <a:spcPts val="3799"/>
              </a:lnSpc>
              <a:defRPr/>
            </a:pPr>
            <a:endParaRPr lang="en">
              <a:solidFill>
                <a:schemeClr val="bg1"/>
              </a:solidFill>
            </a:endParaRPr>
          </a:p>
        </p:txBody>
      </p:sp>
      <p:sp>
        <p:nvSpPr>
          <p:cNvPr id="862958861" name="Текст 17"/>
          <p:cNvSpPr txBox="1"/>
          <p:nvPr/>
        </p:nvSpPr>
        <p:spPr bwMode="auto">
          <a:xfrm flipH="0" flipV="0">
            <a:off x="602140" y="577302"/>
            <a:ext cx="6762154" cy="258696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5500" b="1">
                <a:latin typeface="Tinkoff Sans"/>
              </a:rPr>
              <a:t>Обзор предоставленных данных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3470" name="Уровень текста 1…"/>
          <p:cNvSpPr txBox="1"/>
          <p:nvPr/>
        </p:nvSpPr>
        <p:spPr bwMode="auto">
          <a:xfrm>
            <a:off x="719137" y="2105830"/>
            <a:ext cx="8432771" cy="723670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numCol="1" spcCol="1080000"/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68971638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743E7C25-9605-CD1B-6A19-30FF38CBB654}" type="slidenum">
              <a:rPr lang="ru-RU"/>
              <a:t/>
            </a:fld>
            <a:endParaRPr lang="ru-RU"/>
          </a:p>
        </p:txBody>
      </p:sp>
      <p:sp>
        <p:nvSpPr>
          <p:cNvPr id="777098263" name="Текст 17"/>
          <p:cNvSpPr txBox="1"/>
          <p:nvPr/>
        </p:nvSpPr>
        <p:spPr bwMode="auto">
          <a:xfrm>
            <a:off x="719137" y="562636"/>
            <a:ext cx="15751580" cy="98676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Структура файла user_data.csv</a:t>
            </a:r>
            <a:endParaRPr/>
          </a:p>
        </p:txBody>
      </p:sp>
      <p:pic>
        <p:nvPicPr>
          <p:cNvPr id="18775344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3829" y="2105830"/>
            <a:ext cx="12141006" cy="8227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77303" name="Уровень текста 1…"/>
          <p:cNvSpPr txBox="1"/>
          <p:nvPr/>
        </p:nvSpPr>
        <p:spPr bwMode="auto">
          <a:xfrm>
            <a:off x="719137" y="2105830"/>
            <a:ext cx="8432771" cy="723670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numCol="1" spcCol="1080000"/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7538499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E78CDE9F-7902-C135-B42C-6D930D5BDC07}" type="slidenum">
              <a:rPr lang="ru-RU"/>
              <a:t/>
            </a:fld>
            <a:endParaRPr lang="ru-RU"/>
          </a:p>
        </p:txBody>
      </p:sp>
      <p:sp>
        <p:nvSpPr>
          <p:cNvPr id="1340606222" name="Текст 17"/>
          <p:cNvSpPr txBox="1"/>
          <p:nvPr/>
        </p:nvSpPr>
        <p:spPr bwMode="auto">
          <a:xfrm>
            <a:off x="719137" y="562636"/>
            <a:ext cx="15758420" cy="98676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Структура файла all_user_transaction.csv</a:t>
            </a:r>
            <a:endParaRPr/>
          </a:p>
        </p:txBody>
      </p:sp>
      <p:pic>
        <p:nvPicPr>
          <p:cNvPr id="9412764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73510" y="1674510"/>
            <a:ext cx="12285229" cy="9023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947007" name="Уровень текста 1…"/>
          <p:cNvSpPr txBox="1"/>
          <p:nvPr/>
        </p:nvSpPr>
        <p:spPr bwMode="auto">
          <a:xfrm>
            <a:off x="719137" y="2105830"/>
            <a:ext cx="8432771" cy="723670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numCol="1" spcCol="1080000"/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2960646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22705CAA-4BA8-4671-EF00-A5B05639A4B5}" type="slidenum">
              <a:rPr lang="ru-RU"/>
              <a:t/>
            </a:fld>
            <a:endParaRPr lang="ru-RU"/>
          </a:p>
        </p:txBody>
      </p:sp>
      <p:sp>
        <p:nvSpPr>
          <p:cNvPr id="352425706" name="Текст 17"/>
          <p:cNvSpPr txBox="1"/>
          <p:nvPr/>
        </p:nvSpPr>
        <p:spPr bwMode="auto">
          <a:xfrm>
            <a:off x="719137" y="562636"/>
            <a:ext cx="15761300" cy="98676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Структура файла all_user_balances.csv</a:t>
            </a:r>
            <a:endParaRPr/>
          </a:p>
        </p:txBody>
      </p:sp>
      <p:pic>
        <p:nvPicPr>
          <p:cNvPr id="10684395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8776" y="1986063"/>
            <a:ext cx="11601450" cy="3790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176829" name="Уровень текста 1…"/>
          <p:cNvSpPr txBox="1"/>
          <p:nvPr/>
        </p:nvSpPr>
        <p:spPr bwMode="auto">
          <a:xfrm>
            <a:off x="719137" y="2105830"/>
            <a:ext cx="8432771" cy="723670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numCol="1" spcCol="1080000"/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3705204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9F98420C-105D-E2F6-1032-0580DE8EEDDA}" type="slidenum">
              <a:rPr lang="ru-RU"/>
              <a:t/>
            </a:fld>
            <a:endParaRPr lang="ru-RU"/>
          </a:p>
        </p:txBody>
      </p:sp>
      <p:sp>
        <p:nvSpPr>
          <p:cNvPr id="611333626" name="Текст 17"/>
          <p:cNvSpPr txBox="1"/>
          <p:nvPr/>
        </p:nvSpPr>
        <p:spPr bwMode="auto">
          <a:xfrm>
            <a:off x="719137" y="562636"/>
            <a:ext cx="15769580" cy="98676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Типы транзакций</a:t>
            </a:r>
            <a:endParaRPr/>
          </a:p>
        </p:txBody>
      </p:sp>
      <p:pic>
        <p:nvPicPr>
          <p:cNvPr id="19177993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9137" y="1462525"/>
            <a:ext cx="16732749" cy="9177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 noGrp="1"/>
          </p:cNvPicPr>
          <p:nvPr>
            <p:ph type="pic" sz="quarter" idx="10"/>
          </p:nvPr>
        </p:nvPicPr>
        <p:blipFill>
          <a:blip r:embed="rId3">
            <a:alphaModFix amt="70000"/>
          </a:blip>
          <a:srcRect l="0" t="7735" r="0" b="7734"/>
          <a:stretch/>
        </p:blipFill>
        <p:spPr bwMode="auto">
          <a:prstGeom prst="rect">
            <a:avLst/>
          </a:prstGeom>
        </p:spPr>
      </p:pic>
      <p:sp>
        <p:nvSpPr>
          <p:cNvPr id="6" name="Заголовок 21"/>
          <p:cNvSpPr txBox="1"/>
          <p:nvPr/>
        </p:nvSpPr>
        <p:spPr bwMode="auto">
          <a:xfrm>
            <a:off x="1668691" y="4779379"/>
            <a:ext cx="16518169" cy="140877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>
            <a:lvl1pPr marL="0" marR="0" indent="12715" algn="ctr" defTabSz="1509582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 sz="11000" b="0" i="0" u="none" strike="noStrike" cap="none" spc="0">
                <a:solidFill>
                  <a:srgbClr val="FFFFFF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50958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9000"/>
              </a:lnSpc>
              <a:defRPr/>
            </a:pPr>
            <a:r>
              <a:rPr lang="ru-RU" sz="8000" b="1">
                <a:solidFill>
                  <a:schemeClr val="tx1"/>
                </a:solidFill>
                <a:latin typeface="Tinkoff Sans"/>
              </a:rPr>
              <a:t>Задавайте вопросы!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Р7-Офис/2024.4.2.691</Application>
  <DocSecurity>0</DocSecurity>
  <PresentationFormat>Произвольный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/>
  <cp:lastModifiedBy>Darya Ganzha</cp:lastModifiedBy>
  <cp:revision>680</cp:revision>
  <dcterms:modified xsi:type="dcterms:W3CDTF">2025-04-11T11:31:21Z</dcterms:modified>
  <cp:category/>
  <cp:contentStatus/>
  <cp:version/>
</cp:coreProperties>
</file>